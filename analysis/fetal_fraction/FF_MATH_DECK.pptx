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1A2733"/>
                </a:solidFill>
                <a:latin typeface="Calibri"/>
              </a:rPr>
              <a:t>cfdna-chromatin-xai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C0392B"/>
                </a:solidFill>
                <a:latin typeface="Calibri"/>
              </a:rPr>
              <a:t>Fetal-Fraction XAI Module — Complete Method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5B6B7A"/>
                </a:solidFill>
                <a:latin typeface="Calibri"/>
              </a:rPr>
              <a:t>Feature-agnostic explainer over a PCA -&gt; linear-regression fetal-fraction model (seqFF++).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5B6B7A"/>
                </a:solidFill>
                <a:latin typeface="Calibri"/>
              </a:rPr>
              <a:t>Every formula and code block is taken verbatim from the tool source.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5B6B7A"/>
                </a:solidFill>
                <a:latin typeface="Calibri"/>
              </a:rPr>
              <a:t>Importance (SHAP)  -&gt;  Explanation (cell of origin)  -&gt;  Mechanism (PC decomposition).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60720"/>
            <a:ext cx="2286000" cy="457200"/>
          </a:xfrm>
          <a:prstGeom prst="roundRect">
            <a:avLst/>
          </a:prstGeom>
          <a:solidFill>
            <a:srgbClr val="EEF3F7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SHAP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760720"/>
            <a:ext cx="2286000" cy="457200"/>
          </a:xfrm>
          <a:prstGeom prst="roundRect">
            <a:avLst/>
          </a:prstGeom>
          <a:solidFill>
            <a:srgbClr val="EEF3F7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471A3"/>
                </a:solidFill>
                <a:latin typeface="Calibri"/>
              </a:rPr>
              <a:t>tissue enrichment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5760720"/>
            <a:ext cx="2286000" cy="457200"/>
          </a:xfrm>
          <a:prstGeom prst="roundRect">
            <a:avLst/>
          </a:prstGeom>
          <a:solidFill>
            <a:srgbClr val="EEF3F7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B6B7A"/>
                </a:solidFill>
                <a:latin typeface="Calibri"/>
              </a:rPr>
              <a:t>PC &lt;-&gt; tissue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What this tool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A2733"/>
                </a:solidFill>
                <a:latin typeface="Calibri"/>
              </a:rPr>
              <a:t>A feature-agnostic explainer wrapped around a fetal-fraction predictor built as PCA -&gt; linear regression. It reads ONLY the trained model's bin_loadings and beta. No per-patient data is required for the importance and mechanism tracks, and none ever leaves the instance — only per-feature aggregates 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3474720" cy="1920240"/>
          </a:xfrm>
          <a:prstGeom prst="roundRect">
            <a:avLst/>
          </a:prstGeom>
          <a:solidFill>
            <a:srgbClr val="FAFCFE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C0392B"/>
                </a:solidFill>
                <a:latin typeface="Calibri"/>
              </a:rPr>
              <a:t>1 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A2733"/>
                </a:solidFill>
                <a:latin typeface="Calibri"/>
              </a:rPr>
              <a:t>Which bins drive the FF prediction, and in which direction?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5B6B7A"/>
                </a:solidFill>
                <a:latin typeface="Calibri"/>
              </a:rPr>
              <a:t>SHAP, closed-form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3200400"/>
            <a:ext cx="3474720" cy="1920240"/>
          </a:xfrm>
          <a:prstGeom prst="roundRect">
            <a:avLst/>
          </a:prstGeom>
          <a:solidFill>
            <a:srgbClr val="FAFCFE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33832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471A3"/>
                </a:solidFill>
                <a:latin typeface="Calibri"/>
              </a:rPr>
              <a:t>2 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3977639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A2733"/>
                </a:solidFill>
                <a:latin typeface="Calibri"/>
              </a:rPr>
              <a:t>What cell types are those bins open in?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4800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5B6B7A"/>
                </a:solidFill>
                <a:latin typeface="Calibri"/>
              </a:rPr>
              <a:t>enrichment vs null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200400"/>
            <a:ext cx="3474720" cy="1920240"/>
          </a:xfrm>
          <a:prstGeom prst="roundRect">
            <a:avLst/>
          </a:prstGeom>
          <a:solidFill>
            <a:srgbClr val="FAFCFE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33832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5B6B7A"/>
                </a:solidFill>
                <a:latin typeface="Calibri"/>
              </a:rPr>
              <a:t>3  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3977639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A2733"/>
                </a:solidFill>
                <a:latin typeface="Calibri"/>
              </a:rPr>
              <a:t>Which PCs build each FF direction, resembling which tissue?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4800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5B6B7A"/>
                </a:solidFill>
                <a:latin typeface="Calibri"/>
              </a:rPr>
              <a:t>PC &lt;-&gt; tissue</a:t>
            </a:r>
          </a:p>
        </p:txBody>
      </p:sp>
      <p:pic>
        <p:nvPicPr>
          <p:cNvPr id="19" name="Picture 18" descr="through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5623560"/>
            <a:ext cx="9601200" cy="5900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1 — THE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Normalized coverage residual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A2733"/>
                </a:solidFill>
                <a:latin typeface="Calibri"/>
              </a:rPr>
              <a:t>The model never sees raw read counts. Raw coverage is confounded by GC bias and depth; the input feature is the RESIDUAL after regressing those out, so a non-zero value is biological signal, not artifact.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5207" y="2651760"/>
            <a:ext cx="10241280" cy="970008"/>
          </a:xfrm>
          <a:prstGeom prst="round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2880360"/>
            <a:ext cx="9601200" cy="512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931920"/>
            <a:ext cx="11064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2733"/>
                </a:solidFill>
                <a:latin typeface="Calibri"/>
              </a:rPr>
              <a:t>INPUT   whole-genome cfDNA sequencing, binned into 50 kb windows on hg19 autosomes (~52,000 bins)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2733"/>
                </a:solidFill>
                <a:latin typeface="Calibri"/>
              </a:rPr>
              <a:t>OUTPUT  one corrected coverage residual  x(i,b)  per (sample, bin)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2733"/>
                </a:solidFill>
                <a:latin typeface="Calibri"/>
              </a:rPr>
              <a:t>INTERPRET   The key inversion: open chromatin fragments more readily -&gt; fewer intact fragments span the bin -&gt; LOWER coverage. So 'open chromatin =&gt; low coverage'. This is why a negative-weight bin later corresponds to HIGH placental openness.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2 —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PCA, then linear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A2733"/>
                </a:solidFill>
                <a:latin typeface="Calibri"/>
              </a:rPr>
              <a:t>With ~52k bins and far fewer samples, regressing FF directly on bins overfits. PCA compresses the bins into ~100 orthogonal components; the regression runs on those.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607" y="2651760"/>
            <a:ext cx="10698480" cy="1295036"/>
          </a:xfrm>
          <a:prstGeom prst="round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ore_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2880360"/>
            <a:ext cx="10058400" cy="8378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023360"/>
            <a:ext cx="11064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2733"/>
                </a:solidFill>
                <a:latin typeface="Calibri"/>
              </a:rPr>
              <a:t>L[b,k]  loadings — column k is a genome-wide spatial pattern (a 'meta-bin'): which bins move together.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2733"/>
                </a:solidFill>
                <a:latin typeface="Calibri"/>
              </a:rPr>
              <a:t>beta_k  coefficient — how strongly, and in which direction, PC k moves FF. Its SIGN is load-bearing downstream.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2733"/>
                </a:solidFill>
                <a:latin typeface="Calibri"/>
              </a:rPr>
              <a:t>INTERPRET   Because both maps are linear, they collapse EXACTLY into a single linear model in bin space — no approximation. That collapse is what makes SHAP closed-form.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3 — EFFECTIVE PER-BIN 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Collapsing PCA x beta into one weight per bin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2733"/>
                </a:solidFill>
                <a:latin typeface="Calibri"/>
              </a:rPr>
              <a:t>Substitute the score into FF-hat and swap the order of summation: the two stacked linear maps become one signed weight per bin.</a:t>
            </a:r>
          </a:p>
        </p:txBody>
      </p:sp>
      <p:pic>
        <p:nvPicPr>
          <p:cNvPr id="7" name="Picture 6" descr="w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148840"/>
            <a:ext cx="3566160" cy="9307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200400"/>
            <a:ext cx="11064240" cy="3200400"/>
          </a:xfrm>
          <a:prstGeom prst="round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# extract_ff_shap.R  — effective per-bin weight  w = L %*% beta_pc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L        &lt;- obj$bin_loadings                 # data.table: bin_name + PC1..PCk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pc_cols  &lt;- grep("^PC[0-9]+$", names(L), value = TRUE)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Lmat     &lt;- as.matrix(as.data.frame(L)[, pc_cols])   # nbin x npc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beta     &lt;- obj$beta; bpc &lt;- beta[pc_cols]           # align to loadings' PCs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w &lt;- as.numeric(Lmat %*% bpc)                # &lt;- one signed weight per bin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names(w) &lt;- bin_name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#  w_bin &gt; 0 : more openness -&gt; HIGHER predicted FF (fetal / placental-leaning)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#  w_bin &lt; 0 : more openness -&gt; LOWER  predicted FF (maternal-leaning)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signed_vec &lt;- w        # keeps DIRECTION of effect on FF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EAF2F8"/>
                </a:solidFill>
                <a:latin typeface="Menlo"/>
              </a:rPr>
              <a:t>imp_vec    &lt;- abs(w)   # magnitude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1">
                <a:solidFill>
                  <a:srgbClr val="5B6B7A"/>
                </a:solidFill>
                <a:latin typeface="Calibri"/>
              </a:rPr>
              <a:t>INTERPRET   w_b needs only the trained model — the entire importance track is computable with NO patient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4 — 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Closed-form importance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A2733"/>
                </a:solidFill>
                <a:latin typeface="Calibri"/>
              </a:rPr>
              <a:t>For a linear model the Shapley value has an exact closed form: weight x centered value. No sampling, no KernelExplainer.</a:t>
            </a:r>
          </a:p>
        </p:txBody>
      </p:sp>
      <p:pic>
        <p:nvPicPr>
          <p:cNvPr id="7" name="Picture 6" descr="p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48840"/>
            <a:ext cx="7863840" cy="9666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108960"/>
            <a:ext cx="6675120" cy="3200400"/>
          </a:xfrm>
          <a:prstGeom prst="round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# extract_ff_shap.R  — exact linear-SHAP when the coverage matrix X is present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xbar   &lt;- colMeans(X[, common])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center &lt;- sweep(X[, common], 2, xbar, "-")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mad_j  &lt;- colMeans(abs(center))          # mean_i |x_ij - xbar_j|   (&gt;= 0)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# signed exact linear-SHAP magnitude: SIGN is carried by w (mad_j &gt;= 0)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signed_vec[common] &lt;- w[common] * mad_j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imp_vec[common]    &lt;- abs(w[common]) * mad_j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imp_mode &lt;- "pca_linear_shap_exact"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imp &lt;- data.frame(feature = names(imp_vec),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                  mean_abs_shap = imp_vec,   # magnitude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EAF2F8"/>
                </a:solidFill>
                <a:latin typeface="Menlo"/>
              </a:rPr>
              <a:t>                  signed_shap   = signed_vec) #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3108960"/>
            <a:ext cx="42062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THE SIGN IDENTITY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mad_b &gt;= 0 can never flip the sign, so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sign(signed_shap_b) = sign(w_b).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The aggregate track is anchored to the model weight — patient-independent.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TWO MODES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• model-only (no X): importance = |w_b|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• exact SHAP (X present): |w_b| x mad_b — weight scaled by that bin's coverage variability. Direction unchanged; the most-extreme bin gets reweighted.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4 — SHAP, THE 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Coverage / SHAP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coverage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352" y="1554480"/>
            <a:ext cx="6123775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737360"/>
            <a:ext cx="3566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A2733"/>
                </a:solidFill>
                <a:latin typeface="Calibri"/>
              </a:rPr>
              <a:t>Two stacked panels, shared x-axis.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A2733"/>
                </a:solidFill>
                <a:latin typeface="Calibri"/>
              </a:rPr>
              <a:t>x (both)   genomic region, chr1 -&gt; chr22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A2733"/>
                </a:solidFill>
                <a:latin typeface="Calibri"/>
              </a:rPr>
              <a:t>top y   normalized coverage x(i,b) — the INPUT feature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A2733"/>
                </a:solidFill>
                <a:latin typeface="Calibri"/>
              </a:rPr>
              <a:t>bottom y   SHAP value phi(i,b) — the signed contribution to FF-hat for that sample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A2733"/>
                </a:solidFill>
                <a:latin typeface="Calibri"/>
              </a:rPr>
              <a:t>READ   a tall positive bar pushed this sample's FF up; a deep negative bar pushed it down. A bin earns large |phi| only when its coverage deviates from the mean AND it carries a non-trivial weight.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5 — PARTITION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FF-up vs FF-down bin 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A2733"/>
                </a:solidFill>
                <a:latin typeface="Calibri"/>
              </a:rPr>
              <a:t>Split every bin by the sign of its weight, then take the top-N most extreme in each direction (defaults N = 500, 1000, 2000, 5000). These POS / NEG sets feed every downstream figure.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2468880"/>
            <a:ext cx="11155680" cy="800622"/>
          </a:xfrm>
          <a:prstGeom prst="round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2697480"/>
            <a:ext cx="10515600" cy="3434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977639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A2733"/>
                </a:solidFill>
                <a:latin typeface="Calibri"/>
              </a:rPr>
              <a:t>Why 'FF-up / FF-down' and not 'positive / negative SHAP' — same partition, clearer name: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26280"/>
            <a:ext cx="3200400" cy="640080"/>
          </a:xfrm>
          <a:prstGeom prst="rect">
            <a:avLst/>
          </a:prstGeom>
          <a:solidFill>
            <a:srgbClr val="F0F4F8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sz="1200" b="1">
                <a:solidFill>
                  <a:srgbClr val="1A2733"/>
                </a:solidFill>
                <a:latin typeface="Calibri"/>
              </a:rPr>
              <a:t>naming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4526280"/>
            <a:ext cx="4480560" cy="640080"/>
          </a:xfrm>
          <a:prstGeom prst="rect">
            <a:avLst/>
          </a:prstGeom>
          <a:solidFill>
            <a:srgbClr val="F0F4F8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sz="1200" b="1">
                <a:solidFill>
                  <a:srgbClr val="1A2733"/>
                </a:solidFill>
                <a:latin typeface="Calibri"/>
              </a:rPr>
              <a:t>sign anchored 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526280"/>
            <a:ext cx="3931920" cy="640080"/>
          </a:xfrm>
          <a:prstGeom prst="rect">
            <a:avLst/>
          </a:prstGeom>
          <a:solidFill>
            <a:srgbClr val="F0F4F8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sz="1200" b="1">
                <a:solidFill>
                  <a:srgbClr val="1A2733"/>
                </a:solidFill>
                <a:latin typeface="Calibri"/>
              </a:rPr>
              <a:t>ambiguous?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positive / negative SHAP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5166360"/>
            <a:ext cx="44805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arithmetic sign — aggregate or per-sample phi?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5166360"/>
            <a:ext cx="39319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YES — per-sample phi flips below the bin mean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FF-up / FF-down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5806440"/>
            <a:ext cx="44805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sign(w_b) — sample-independent model weight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5806440"/>
            <a:ext cx="39319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sz="1200" b="0">
                <a:solidFill>
                  <a:srgbClr val="5B6B7A"/>
                </a:solidFill>
                <a:latin typeface="Calibri"/>
              </a:rPr>
              <a:t>NO — names the biological direction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6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Cell-of-origin enrichment vs a matched null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A2733"/>
                </a:solidFill>
                <a:latin typeface="Calibri"/>
              </a:rPr>
              <a:t>What cell types are the top SHAP bins open in? Calibrate against random genome so 'open everywhere' can't fake a signal.</a:t>
            </a:r>
          </a:p>
        </p:txBody>
      </p:sp>
      <p:pic>
        <p:nvPicPr>
          <p:cNvPr id="7" name="Picture 6" descr="spec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03120"/>
            <a:ext cx="9235440" cy="134017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200400"/>
            <a:ext cx="11064240" cy="2651760"/>
          </a:xfrm>
          <a:prstGeom prst="round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# ff_tissue_proportion.py  — spec_&lt;t&gt; = C_&lt;t&gt; - row-mean;  matched random-region null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spec = C.sub(C.mean(axis=1), axis=0)               # per-bin tissue specificity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spec_obs = np.nanmean(SP[sel], axis=0)             # over the top-N bins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for b in range(n_perm):                            # n_perm = 2000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    r = rng.choice(Ngrid, k, replace=False)        # k random bins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    spec_null[b] = np.nanmean(SP[r], axis=0)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spec_mu, spec_sd = spec_null.mean(0), spec_null.std(0) + 1e-12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spec_z = (spec_obs - spec_mu) / spec_sd            # calibrated enrichment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spec_p = (np.abs(spec_null-spec_mu) &gt;= np.abs(spec_obs-spec_mu)[None]).mean(0)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pos = np.clip(spec_obs, 0, None); props[topn] = pos / pos.sum()   # composition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B7A"/>
                </a:solidFill>
                <a:latin typeface="Calibri"/>
              </a:rPr>
              <a:t>INTERPRET   spec_z = how many SD more tissue-specific-open than random genome (significance). share = tissue's slice of the positive origin signal (composition). Leading in both = a solid 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6 — THE 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Tissue track (grouped bars, default)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tissu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589520" cy="248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828800"/>
            <a:ext cx="3383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733"/>
                </a:solidFill>
                <a:latin typeface="Calibri"/>
              </a:rPr>
              <a:t>Panel A   x = tissue, y = spec_z; grouped bars = the four top-N cutoffs.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733"/>
                </a:solidFill>
                <a:latin typeface="Calibri"/>
              </a:rPr>
              <a:t>Panel B   x = tissue, y = share (normalized cell-of-origin proportion).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733"/>
                </a:solidFill>
                <a:latin typeface="Calibri"/>
              </a:rPr>
              <a:t>On the synthetic FF-up set, placenta dominates both (spec_z ~ 105) — the fetal-signal confirmation.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7 — NEW IN V0.6.2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Lollipop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tissue_lollip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4490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737360"/>
            <a:ext cx="4023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Same statistic as the bars — transposed and sorted so 73 tissue names stay horizontal and legible.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y   tissue (top-K by |spec_z|, labels horizontal)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x   spec_z (A) / share (B)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One colored dot PER top-N cutoff, stem from zero; the near-zero tail collapses into a '+N more near zero' note.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READ   dots for all cutoffs on one row show at a glance whether a tissue's enrichment is STABLE as the bin set widens — a robustness signal the bars don't surface.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CLI   --style lollipop  --top-k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8 — NEW IN V0.6.2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POS-vs-NEG dumbbell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tissue_dumb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488" y="1737360"/>
            <a:ext cx="3769743" cy="4206240"/>
          </a:xfrm>
          <a:prstGeom prst="rect">
            <a:avLst/>
          </a:prstGeom>
        </p:spPr>
      </p:pic>
      <p:pic>
        <p:nvPicPr>
          <p:cNvPr id="7" name="Picture 6" descr="contr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126480"/>
            <a:ext cx="6035040" cy="4922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737360"/>
            <a:ext cx="4023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Both FF directions on one axis, so the fetal&lt;-&gt;maternal contrast per tissue is directly visible.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y   tissue (top-K by contrast)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x   spec_z, TWO dots per tissue — FF-up (red) and FF-down (blue) — joined by a line.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The line LENGTH is the contrast: how strongly that tissue distinguishes fetal from maternal bins.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DEMO   placenta contrast ~ +119 (fetal); CD14+ monocyte ~ -143 (maternal hematopoietic).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Reads the two ff_tissue_results.csv files — no recomputation, no atlas reload.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9 —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Opening the PCA black box: PC ↔ tissue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A2733"/>
                </a:solidFill>
                <a:latin typeface="Calibri"/>
              </a:rPr>
              <a:t>Each PC loading L[·,k] is a genome-wide spatial pattern. Correlate it with each tissue's openness, then flip by sign(βₖ) so red always means FF-up.</a:t>
            </a:r>
          </a:p>
        </p:txBody>
      </p:sp>
      <p:pic>
        <p:nvPicPr>
          <p:cNvPr id="7" name="Picture 6" descr="al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148840"/>
            <a:ext cx="8321040" cy="4428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154680"/>
            <a:ext cx="11064240" cy="2331720"/>
          </a:xfrm>
          <a:prstGeom prst="round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# pc_tissue_map.R  — beta-oriented PC x tissue alignment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corr    &lt;- cor(Lc, Cc)               # npc x ntissue: raw Pearson, loading vs openness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corr_or &lt;- corr * sign(beta)         # ORIENT: + =&gt; this PC's FF-up direction opens tissue 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best    &lt;- max.col(abs(corr_or))     # each PC's dominant tissue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# exact additive decomposition of the effective weight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w        &lt;- as.numeric(Lmat %*% beta)               # w_bin = sum_k L[bin,k]*beta_k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contrib  &lt;- sweep(Lmat[pos_set,], 2, beta, '*')     # Contrib[bin,k] = L[bin,k]*beta_k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EAF2F8"/>
                </a:solidFill>
                <a:latin typeface="Menlo"/>
              </a:rPr>
              <a:t>pos_c    &lt;- colMeans(contrib)                        # mean PC contribution over FF-up bins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B7A"/>
                </a:solidFill>
                <a:latin typeface="Calibri"/>
              </a:rPr>
              <a:t>WHY THE FLIP   A PC can enter the FF score with a negative β. Multiplying the correlation by sign(βₖ) re-expresses every cell in FF-direction terms, so one colorbar (red = FF-up) reads consistently across the whole matrix — the cell color IS the oriented value.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10 —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Per-PC contribution to FF-up / FF-down bins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45920"/>
            <a:ext cx="9601200" cy="9285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743200"/>
            <a:ext cx="110642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2733"/>
                </a:solidFill>
                <a:latin typeface="Calibri"/>
              </a:rPr>
              <a:t>Because w_bin decomposes exactly into per-PC terms, we can ask which PCs BUILD each origin signal: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2733"/>
                </a:solidFill>
                <a:latin typeface="Calibri"/>
              </a:rPr>
              <a:t>•  pos_contribₖ  =  mean over FF-up bins of L[b,k]·βₖ   —  how much PC k drives the fetal signal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2733"/>
                </a:solidFill>
                <a:latin typeface="Calibri"/>
              </a:rPr>
              <a:t>•  neg_contribₖ  =  mean over FF-down bins of L[b,k]·βₖ   —  how much PC k drives the maternal signal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2733"/>
                </a:solidFill>
                <a:latin typeface="Calibri"/>
              </a:rPr>
              <a:t>•  pos_fracₖ / neg_fracₖ  =  that PC's SHARE of the set's total signed weight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2733"/>
                </a:solidFill>
                <a:latin typeface="Calibri"/>
              </a:rPr>
              <a:t>This closes the loop: bin → PC → tissue. A handful of PCs usually carry each direction, and each of those PCs maps to a dominant tissue via the alignment matrix — so the FF score becomes readable as 'PC3 = placental opening, PC7 = monocyte opening.'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STEP 9–10 — THE 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PC × tissue heatmap + contribution bars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pc_t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772400" cy="31244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737360"/>
            <a:ext cx="32004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LEFT  PC × tissue, color = β-oriented corr (RdBu_r). Rows labeled PC·best-tissue. Red = FF-up alignment, blue = FF-down. Colorbar carries the 'FF-up →' label.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RIGHT  per-PC contribution bars (pos red / neg blue).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A2733"/>
                </a:solidFill>
                <a:latin typeface="Calibri"/>
              </a:rPr>
              <a:t>DEMO  PC3·placenta lights red (fetal); PC7·CD14 monocyte lights blue (maternal) — exactly the seeded structure.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5B6B7A"/>
                </a:solidFill>
                <a:latin typeface="Calibri"/>
              </a:rPr>
              <a:t>THE WHOLE PIPELINE 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2733"/>
                </a:solidFill>
                <a:latin typeface="Calibri"/>
              </a:rPr>
              <a:t>Bin → weight → SHAP → origin →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rough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10332720" cy="6350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471A3"/>
                </a:solidFill>
                <a:latin typeface="Calibri"/>
              </a:rPr>
              <a:t>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471A3"/>
                </a:solidFill>
                <a:latin typeface="Calibri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471A3"/>
                </a:solidFill>
                <a:latin typeface="Calibri"/>
              </a:rPr>
              <a:t>KEY QUANTITY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2743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A2733"/>
                </a:solidFill>
                <a:latin typeface="Calibri"/>
              </a:rPr>
              <a:t>1 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88920"/>
            <a:ext cx="4846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2733"/>
                </a:solidFill>
                <a:latin typeface="Calibri"/>
              </a:rPr>
              <a:t>GC/NB-normalized coverage residual per 50 kb bin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788920"/>
            <a:ext cx="3383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x_{i,b}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91256"/>
            <a:ext cx="2743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A2733"/>
                </a:solidFill>
                <a:latin typeface="Calibri"/>
              </a:rPr>
              <a:t>2 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191256"/>
            <a:ext cx="4846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2733"/>
                </a:solidFill>
                <a:latin typeface="Calibri"/>
              </a:rPr>
              <a:t>PCA → linear regression on PC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191256"/>
            <a:ext cx="3383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FF̂ = b₀ + Σ βₖ sₖ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93591"/>
            <a:ext cx="2743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A2733"/>
                </a:solidFill>
                <a:latin typeface="Calibri"/>
              </a:rPr>
              <a:t>3  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593591"/>
            <a:ext cx="4846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2733"/>
                </a:solidFill>
                <a:latin typeface="Calibri"/>
              </a:rPr>
              <a:t>back-project β through loadings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93591"/>
            <a:ext cx="3383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w_b = Σₖ L[b,k]·βₖ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95928"/>
            <a:ext cx="2743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A2733"/>
                </a:solidFill>
                <a:latin typeface="Calibri"/>
              </a:rPr>
              <a:t>4  SHAP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995928"/>
            <a:ext cx="4846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2733"/>
                </a:solidFill>
                <a:latin typeface="Calibri"/>
              </a:rPr>
              <a:t>exact closed-form linear 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95928"/>
            <a:ext cx="3383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φ_{i,b} = w_b·(x_{i,b}−x̄_b)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98264"/>
            <a:ext cx="2743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A2733"/>
                </a:solidFill>
                <a:latin typeface="Calibri"/>
              </a:rPr>
              <a:t>5  Partition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398264"/>
            <a:ext cx="4846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2733"/>
                </a:solidFill>
                <a:latin typeface="Calibri"/>
              </a:rPr>
              <a:t>top-N by sign(w_b)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398264"/>
            <a:ext cx="3383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U_N (FF-up) / D_N (FF-down)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00600"/>
            <a:ext cx="2743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A2733"/>
                </a:solidFill>
                <a:latin typeface="Calibri"/>
              </a:rPr>
              <a:t>6  Enrichment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800600"/>
            <a:ext cx="4846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2733"/>
                </a:solidFill>
                <a:latin typeface="Calibri"/>
              </a:rPr>
              <a:t>tissue specificity vs matched null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800600"/>
            <a:ext cx="3383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spec_z = (obs−μ)/σ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02936"/>
            <a:ext cx="2743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A2733"/>
                </a:solidFill>
                <a:latin typeface="Calibri"/>
              </a:rPr>
              <a:t>7–8  Layouts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202936"/>
            <a:ext cx="4846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2733"/>
                </a:solidFill>
                <a:latin typeface="Calibri"/>
              </a:rPr>
              <a:t>lollipop (stability) + dumbbell (contrast)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202936"/>
            <a:ext cx="3383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Δ_t = zᵖᵒˢ − zⁿᵉᵍ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05272"/>
            <a:ext cx="2743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A2733"/>
                </a:solidFill>
                <a:latin typeface="Calibri"/>
              </a:rPr>
              <a:t>9  Alignment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605272"/>
            <a:ext cx="4846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2733"/>
                </a:solidFill>
                <a:latin typeface="Calibri"/>
              </a:rPr>
              <a:t>PC ↔ tissue, β-oriented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605272"/>
            <a:ext cx="3383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align = corr·sign(β)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07608"/>
            <a:ext cx="2743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A2733"/>
                </a:solidFill>
                <a:latin typeface="Calibri"/>
              </a:rPr>
              <a:t>10 Contribution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6007608"/>
            <a:ext cx="48463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2733"/>
                </a:solidFill>
                <a:latin typeface="Calibri"/>
              </a:rPr>
              <a:t>which PCs build each origin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07608"/>
            <a:ext cx="33832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Contrib = L·β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